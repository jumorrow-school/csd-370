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Thin"/>
      <p:regular r:id="rId16"/>
      <p:bold r:id="rId17"/>
      <p:italic r:id="rId18"/>
      <p:boldItalic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Roboto Medium"/>
      <p:regular r:id="rId24"/>
      <p:bold r:id="rId25"/>
      <p:italic r:id="rId26"/>
      <p:boldItalic r:id="rId27"/>
    </p:embeddedFont>
    <p:embeddedFont>
      <p:font typeface="Nuni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RobotoMedium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edium-italic.fntdata"/><Relationship Id="rId25" Type="http://schemas.openxmlformats.org/officeDocument/2006/relationships/font" Target="fonts/RobotoMedium-bold.fntdata"/><Relationship Id="rId28" Type="http://schemas.openxmlformats.org/officeDocument/2006/relationships/font" Target="fonts/Nunito-regular.fntdata"/><Relationship Id="rId27" Type="http://schemas.openxmlformats.org/officeDocument/2006/relationships/font" Target="fonts/Roboto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boldItalic.fntdata"/><Relationship Id="rId30" Type="http://schemas.openxmlformats.org/officeDocument/2006/relationships/font" Target="fonts/Nuni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Thin-bold.fntdata"/><Relationship Id="rId16" Type="http://schemas.openxmlformats.org/officeDocument/2006/relationships/font" Target="fonts/RobotoThin-regular.fntdata"/><Relationship Id="rId19" Type="http://schemas.openxmlformats.org/officeDocument/2006/relationships/font" Target="fonts/RobotoThin-boldItalic.fntdata"/><Relationship Id="rId18" Type="http://schemas.openxmlformats.org/officeDocument/2006/relationships/font" Target="fonts/RobotoThin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9c45342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9c45342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d933c8c4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d933c8c4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e9090756a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e9090756a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e9090756a_1_7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e9090756a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ca1a2eb2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dca1a2eb2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ca1a2eb2c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dca1a2eb2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ca1a2eb2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ca1a2eb2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ca1a2eb2c_0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dca1a2eb2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251aa1d92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d251aa1d9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e9090756a_1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e9090756a_1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1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6.jpg"/><Relationship Id="rId5" Type="http://schemas.openxmlformats.org/officeDocument/2006/relationships/image" Target="../media/image10.jpg"/><Relationship Id="rId6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8.jpg"/><Relationship Id="rId5" Type="http://schemas.openxmlformats.org/officeDocument/2006/relationships/image" Target="../media/image4.jpg"/><Relationship Id="rId6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descope.com/blog/post/sso-vs-oauth?utm_source=chatgpt.com" TargetMode="External"/><Relationship Id="rId4" Type="http://schemas.openxmlformats.org/officeDocument/2006/relationships/hyperlink" Target="https://www.okta.com/identity-101/whats-the-difference-between-oauth-openid-connect-and-saml/?utm_source=chatgpt.com" TargetMode="External"/><Relationship Id="rId5" Type="http://schemas.openxmlformats.org/officeDocument/2006/relationships/hyperlink" Target="https://medium.com/@puspas99/oauth-2-0-vs-openid-connect-vs-sso-understanding-the-key-differences-cd154da0041b" TargetMode="External"/><Relationship Id="rId6" Type="http://schemas.openxmlformats.org/officeDocument/2006/relationships/hyperlink" Target="https://workos.com/blog/sso-vs-oauth?utm_source=chatgpt.com" TargetMode="External"/><Relationship Id="rId7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455081" y="1053867"/>
            <a:ext cx="8222100" cy="93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Mesusa Corporation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6669250" y="3964200"/>
            <a:ext cx="2225700" cy="9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CSD 370</a:t>
            </a:r>
            <a:br>
              <a:rPr lang="en"/>
            </a:br>
            <a:r>
              <a:rPr lang="en"/>
              <a:t>03/24/26</a:t>
            </a:r>
            <a:br>
              <a:rPr lang="en"/>
            </a:br>
            <a:r>
              <a:rPr lang="en"/>
              <a:t>Justin Morrow</a:t>
            </a:r>
            <a:endParaRPr/>
          </a:p>
        </p:txBody>
      </p:sp>
      <p:sp>
        <p:nvSpPr>
          <p:cNvPr id="130" name="Google Shape;130;p13"/>
          <p:cNvSpPr txBox="1"/>
          <p:nvPr>
            <p:ph idx="1" type="subTitle"/>
          </p:nvPr>
        </p:nvSpPr>
        <p:spPr>
          <a:xfrm>
            <a:off x="238050" y="2704074"/>
            <a:ext cx="86679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33">
                <a:latin typeface="Nunito"/>
                <a:ea typeface="Nunito"/>
                <a:cs typeface="Nunito"/>
                <a:sym typeface="Nunito"/>
              </a:rPr>
              <a:t>Comparing Single Sign-On (SSO), OAuth 2.0 and OpenID Connect (OIDC)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267400" y="509600"/>
            <a:ext cx="40032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Authentication (AuthN)</a:t>
            </a:r>
            <a:endParaRPr sz="2200"/>
          </a:p>
        </p:txBody>
      </p:sp>
      <p:sp>
        <p:nvSpPr>
          <p:cNvPr id="136" name="Google Shape;136;p14"/>
          <p:cNvSpPr txBox="1"/>
          <p:nvPr>
            <p:ph idx="1" type="body"/>
          </p:nvPr>
        </p:nvSpPr>
        <p:spPr>
          <a:xfrm>
            <a:off x="285575" y="1194404"/>
            <a:ext cx="4003200" cy="11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5"/>
                </a:solidFill>
              </a:rPr>
              <a:t>Asks the question “Who are you”?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accent5"/>
                </a:solidFill>
              </a:rPr>
              <a:t>It verifies the users identity before allowing access like a Passport at a border crossing.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137" name="Google Shape;137;p14"/>
          <p:cNvSpPr txBox="1"/>
          <p:nvPr>
            <p:ph type="title"/>
          </p:nvPr>
        </p:nvSpPr>
        <p:spPr>
          <a:xfrm>
            <a:off x="4337500" y="514150"/>
            <a:ext cx="3753900" cy="9621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Identity</a:t>
            </a:r>
            <a:endParaRPr>
              <a:solidFill>
                <a:schemeClr val="accent5"/>
              </a:solidFill>
            </a:endParaRPr>
          </a:p>
        </p:txBody>
      </p:sp>
      <p:cxnSp>
        <p:nvCxnSpPr>
          <p:cNvPr id="138" name="Google Shape;138;p14"/>
          <p:cNvCxnSpPr>
            <a:stCxn id="137" idx="2"/>
            <a:endCxn id="139" idx="0"/>
          </p:cNvCxnSpPr>
          <p:nvPr/>
        </p:nvCxnSpPr>
        <p:spPr>
          <a:xfrm>
            <a:off x="6214450" y="1476250"/>
            <a:ext cx="0" cy="6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" name="Google Shape;139;p14"/>
          <p:cNvSpPr txBox="1"/>
          <p:nvPr>
            <p:ph type="title"/>
          </p:nvPr>
        </p:nvSpPr>
        <p:spPr>
          <a:xfrm>
            <a:off x="4337500" y="2090676"/>
            <a:ext cx="3753900" cy="962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</a:t>
            </a:r>
            <a:endParaRPr/>
          </a:p>
        </p:txBody>
      </p:sp>
      <p:cxnSp>
        <p:nvCxnSpPr>
          <p:cNvPr id="140" name="Google Shape;140;p14"/>
          <p:cNvCxnSpPr>
            <a:stCxn id="139" idx="2"/>
            <a:endCxn id="141" idx="0"/>
          </p:cNvCxnSpPr>
          <p:nvPr/>
        </p:nvCxnSpPr>
        <p:spPr>
          <a:xfrm>
            <a:off x="6214450" y="3052776"/>
            <a:ext cx="0" cy="6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14"/>
          <p:cNvSpPr txBox="1"/>
          <p:nvPr>
            <p:ph type="title"/>
          </p:nvPr>
        </p:nvSpPr>
        <p:spPr>
          <a:xfrm>
            <a:off x="4337501" y="3667157"/>
            <a:ext cx="3753900" cy="9621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Access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334300" y="2956301"/>
            <a:ext cx="40032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Authorization (AuthZ)</a:t>
            </a:r>
            <a:endParaRPr sz="2200"/>
          </a:p>
        </p:txBody>
      </p:sp>
      <p:sp>
        <p:nvSpPr>
          <p:cNvPr id="143" name="Google Shape;143;p14"/>
          <p:cNvSpPr txBox="1"/>
          <p:nvPr>
            <p:ph idx="1" type="body"/>
          </p:nvPr>
        </p:nvSpPr>
        <p:spPr>
          <a:xfrm>
            <a:off x="352450" y="3645085"/>
            <a:ext cx="4003200" cy="11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5"/>
                </a:solidFill>
              </a:rPr>
              <a:t>Asks the question “What can you do”?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accent5"/>
                </a:solidFill>
              </a:rPr>
              <a:t>Grants limited permissions like a Valet Key that can start the car but not open the trunk.</a:t>
            </a:r>
            <a:endParaRPr sz="16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Description: Single Sign-on (SSO)</a:t>
            </a:r>
            <a:endParaRPr/>
          </a:p>
        </p:txBody>
      </p:sp>
      <p:cxnSp>
        <p:nvCxnSpPr>
          <p:cNvPr id="149" name="Google Shape;149;p15"/>
          <p:cNvCxnSpPr/>
          <p:nvPr/>
        </p:nvCxnSpPr>
        <p:spPr>
          <a:xfrm>
            <a:off x="929038" y="2507950"/>
            <a:ext cx="0" cy="103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15"/>
          <p:cNvSpPr txBox="1"/>
          <p:nvPr>
            <p:ph type="title"/>
          </p:nvPr>
        </p:nvSpPr>
        <p:spPr>
          <a:xfrm>
            <a:off x="976112" y="2384687"/>
            <a:ext cx="18141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Step 1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51" name="Google Shape;151;p15"/>
          <p:cNvSpPr txBox="1"/>
          <p:nvPr>
            <p:ph idx="1" type="body"/>
          </p:nvPr>
        </p:nvSpPr>
        <p:spPr>
          <a:xfrm>
            <a:off x="976100" y="2507949"/>
            <a:ext cx="18141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Authentication only (AuthN)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52" name="Google Shape;152;p15"/>
          <p:cNvCxnSpPr/>
          <p:nvPr/>
        </p:nvCxnSpPr>
        <p:spPr>
          <a:xfrm>
            <a:off x="3395738" y="2355550"/>
            <a:ext cx="0" cy="103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" name="Google Shape;153;p15"/>
          <p:cNvSpPr txBox="1"/>
          <p:nvPr>
            <p:ph type="title"/>
          </p:nvPr>
        </p:nvSpPr>
        <p:spPr>
          <a:xfrm>
            <a:off x="3442812" y="2241076"/>
            <a:ext cx="18141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Step 2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54" name="Google Shape;154;p15"/>
          <p:cNvSpPr txBox="1"/>
          <p:nvPr>
            <p:ph idx="1" type="body"/>
          </p:nvPr>
        </p:nvSpPr>
        <p:spPr>
          <a:xfrm>
            <a:off x="3442800" y="2355550"/>
            <a:ext cx="18141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Allows users to authenticate once with a central Identity Provider (IdP) and gain access to multiple applications.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55" name="Google Shape;155;p15"/>
          <p:cNvCxnSpPr/>
          <p:nvPr/>
        </p:nvCxnSpPr>
        <p:spPr>
          <a:xfrm>
            <a:off x="6457563" y="2053100"/>
            <a:ext cx="0" cy="103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15"/>
          <p:cNvSpPr txBox="1"/>
          <p:nvPr>
            <p:ph type="title"/>
          </p:nvPr>
        </p:nvSpPr>
        <p:spPr>
          <a:xfrm>
            <a:off x="6504637" y="1929945"/>
            <a:ext cx="18141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Step 3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57" name="Google Shape;157;p15"/>
          <p:cNvSpPr txBox="1"/>
          <p:nvPr>
            <p:ph idx="1" type="body"/>
          </p:nvPr>
        </p:nvSpPr>
        <p:spPr>
          <a:xfrm>
            <a:off x="6504625" y="2053099"/>
            <a:ext cx="18141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No need for multiple username/passwords for each application. As the name says Single Sign-on</a:t>
            </a:r>
            <a:endParaRPr sz="1200">
              <a:solidFill>
                <a:schemeClr val="dk2"/>
              </a:solidFill>
            </a:endParaRPr>
          </a:p>
        </p:txBody>
      </p:sp>
      <p:grpSp>
        <p:nvGrpSpPr>
          <p:cNvPr id="158" name="Google Shape;158;p15"/>
          <p:cNvGrpSpPr/>
          <p:nvPr/>
        </p:nvGrpSpPr>
        <p:grpSpPr>
          <a:xfrm>
            <a:off x="929030" y="3219673"/>
            <a:ext cx="6993309" cy="1520400"/>
            <a:chOff x="929030" y="3219673"/>
            <a:chExt cx="6993309" cy="1520400"/>
          </a:xfrm>
        </p:grpSpPr>
        <p:cxnSp>
          <p:nvCxnSpPr>
            <p:cNvPr id="159" name="Google Shape;159;p15"/>
            <p:cNvCxnSpPr>
              <a:stCxn id="160" idx="6"/>
              <a:endCxn id="161" idx="2"/>
            </p:cNvCxnSpPr>
            <p:nvPr/>
          </p:nvCxnSpPr>
          <p:spPr>
            <a:xfrm>
              <a:off x="1537730" y="3979907"/>
              <a:ext cx="4864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160" name="Google Shape;160;p15"/>
            <p:cNvSpPr/>
            <p:nvPr/>
          </p:nvSpPr>
          <p:spPr>
            <a:xfrm>
              <a:off x="929030" y="3675557"/>
              <a:ext cx="608700" cy="608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3421283" y="3431305"/>
              <a:ext cx="1097100" cy="1097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6401939" y="3219673"/>
              <a:ext cx="1520400" cy="1520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/>
          <p:nvPr/>
        </p:nvSpPr>
        <p:spPr>
          <a:xfrm>
            <a:off x="0" y="0"/>
            <a:ext cx="9144000" cy="248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/>
          <p:cNvSpPr txBox="1"/>
          <p:nvPr>
            <p:ph idx="4294967295" type="title"/>
          </p:nvPr>
        </p:nvSpPr>
        <p:spPr>
          <a:xfrm>
            <a:off x="311700" y="220100"/>
            <a:ext cx="8520600" cy="10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Sign-On (SSO) User Access</a:t>
            </a:r>
            <a:endParaRPr/>
          </a:p>
          <a:p>
            <a:pPr indent="0" lvl="0" marL="0" rtl="0" algn="ctr">
              <a:spcBef>
                <a:spcPts val="400"/>
              </a:spcBef>
              <a:spcAft>
                <a:spcPts val="400"/>
              </a:spcAft>
              <a:buNone/>
            </a:pPr>
            <a:r>
              <a:rPr i="1" lang="en" sz="1600"/>
              <a:t>Understanding the implementation process</a:t>
            </a:r>
            <a:endParaRPr i="1" sz="1600"/>
          </a:p>
        </p:txBody>
      </p:sp>
      <p:pic>
        <p:nvPicPr>
          <p:cNvPr descr="Account login icon, access profile (Provided by Getty Images)" id="169" name="Google Shape;16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725" y="1363020"/>
            <a:ext cx="1644300" cy="16443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Internet safety, network protection, website security icon (Provided by Getty Images)" id="170" name="Google Shape;170;p16"/>
          <p:cNvPicPr preferRelativeResize="0"/>
          <p:nvPr/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2638668" y="1363170"/>
            <a:ext cx="1644300" cy="16440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Browser protection, web Security icon (Provided by Getty Images)" id="171" name="Google Shape;17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6629" y="1363008"/>
            <a:ext cx="1644300" cy="1644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72" name="Google Shape;172;p16"/>
          <p:cNvSpPr txBox="1"/>
          <p:nvPr>
            <p:ph idx="4294967295" type="title"/>
          </p:nvPr>
        </p:nvSpPr>
        <p:spPr>
          <a:xfrm>
            <a:off x="231725" y="3047794"/>
            <a:ext cx="20223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User Access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3" name="Google Shape;173;p16"/>
          <p:cNvSpPr txBox="1"/>
          <p:nvPr>
            <p:ph idx="4294967295" type="body"/>
          </p:nvPr>
        </p:nvSpPr>
        <p:spPr>
          <a:xfrm>
            <a:off x="231725" y="3572413"/>
            <a:ext cx="2022300" cy="1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User attempts to access an application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4" name="Google Shape;174;p16"/>
          <p:cNvSpPr txBox="1"/>
          <p:nvPr>
            <p:ph idx="4294967295" type="title"/>
          </p:nvPr>
        </p:nvSpPr>
        <p:spPr>
          <a:xfrm>
            <a:off x="2449668" y="3047794"/>
            <a:ext cx="20223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IdP Redirect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5" name="Google Shape;175;p16"/>
          <p:cNvSpPr txBox="1"/>
          <p:nvPr>
            <p:ph idx="4294967295" type="title"/>
          </p:nvPr>
        </p:nvSpPr>
        <p:spPr>
          <a:xfrm>
            <a:off x="4667629" y="3047794"/>
            <a:ext cx="20223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Token Generation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6" name="Google Shape;176;p16"/>
          <p:cNvSpPr txBox="1"/>
          <p:nvPr>
            <p:ph idx="4294967295" type="body"/>
          </p:nvPr>
        </p:nvSpPr>
        <p:spPr>
          <a:xfrm>
            <a:off x="2449668" y="3572413"/>
            <a:ext cx="2022300" cy="1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The application redirects the user to the centralized IdP for the user to log in once.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7" name="Google Shape;177;p16"/>
          <p:cNvSpPr txBox="1"/>
          <p:nvPr>
            <p:ph idx="4294967295" type="body"/>
          </p:nvPr>
        </p:nvSpPr>
        <p:spPr>
          <a:xfrm>
            <a:off x="4667629" y="3572413"/>
            <a:ext cx="2022300" cy="1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The IdP verifies the identity of the user and generates a secure token.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8" name="Google Shape;178;p16"/>
          <p:cNvSpPr txBox="1"/>
          <p:nvPr>
            <p:ph idx="4294967295" type="title"/>
          </p:nvPr>
        </p:nvSpPr>
        <p:spPr>
          <a:xfrm>
            <a:off x="6885590" y="3047794"/>
            <a:ext cx="20223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Access Granted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9" name="Google Shape;179;p16"/>
          <p:cNvSpPr txBox="1"/>
          <p:nvPr>
            <p:ph idx="4294967295" type="body"/>
          </p:nvPr>
        </p:nvSpPr>
        <p:spPr>
          <a:xfrm>
            <a:off x="6885590" y="3572413"/>
            <a:ext cx="2022300" cy="1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The application validates the secure token and grants the user access.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descr="a green icon with a white check mark inside of it (Provided by Tenor)" id="180" name="Google Shape;180;p16"/>
          <p:cNvPicPr preferRelativeResize="0"/>
          <p:nvPr/>
        </p:nvPicPr>
        <p:blipFill rotWithShape="1">
          <a:blip r:embed="rId6">
            <a:alphaModFix/>
          </a:blip>
          <a:srcRect b="0" l="2308" r="2308" t="0"/>
          <a:stretch/>
        </p:blipFill>
        <p:spPr>
          <a:xfrm>
            <a:off x="7074579" y="1363033"/>
            <a:ext cx="1644300" cy="16443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</a:t>
            </a:r>
            <a:r>
              <a:rPr lang="en"/>
              <a:t> Description: OAuth 2.0</a:t>
            </a:r>
            <a:endParaRPr/>
          </a:p>
        </p:txBody>
      </p:sp>
      <p:cxnSp>
        <p:nvCxnSpPr>
          <p:cNvPr id="186" name="Google Shape;186;p17"/>
          <p:cNvCxnSpPr/>
          <p:nvPr/>
        </p:nvCxnSpPr>
        <p:spPr>
          <a:xfrm>
            <a:off x="929038" y="2507950"/>
            <a:ext cx="0" cy="103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7"/>
          <p:cNvSpPr txBox="1"/>
          <p:nvPr>
            <p:ph type="title"/>
          </p:nvPr>
        </p:nvSpPr>
        <p:spPr>
          <a:xfrm>
            <a:off x="976112" y="2384687"/>
            <a:ext cx="18141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Step 1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88" name="Google Shape;188;p17"/>
          <p:cNvSpPr txBox="1"/>
          <p:nvPr>
            <p:ph idx="1" type="body"/>
          </p:nvPr>
        </p:nvSpPr>
        <p:spPr>
          <a:xfrm>
            <a:off x="976100" y="2507951"/>
            <a:ext cx="18141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Authorization only (Authz)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89" name="Google Shape;189;p17"/>
          <p:cNvCxnSpPr/>
          <p:nvPr/>
        </p:nvCxnSpPr>
        <p:spPr>
          <a:xfrm>
            <a:off x="3395738" y="2355550"/>
            <a:ext cx="0" cy="103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17"/>
          <p:cNvSpPr txBox="1"/>
          <p:nvPr>
            <p:ph type="title"/>
          </p:nvPr>
        </p:nvSpPr>
        <p:spPr>
          <a:xfrm>
            <a:off x="3442812" y="2241076"/>
            <a:ext cx="18141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Step 2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91" name="Google Shape;191;p17"/>
          <p:cNvSpPr txBox="1"/>
          <p:nvPr>
            <p:ph idx="1" type="body"/>
          </p:nvPr>
        </p:nvSpPr>
        <p:spPr>
          <a:xfrm>
            <a:off x="3442800" y="2355550"/>
            <a:ext cx="18141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Allows users to grant an application limited access to data from another application without providing their password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92" name="Google Shape;192;p17"/>
          <p:cNvCxnSpPr/>
          <p:nvPr/>
        </p:nvCxnSpPr>
        <p:spPr>
          <a:xfrm>
            <a:off x="6457563" y="2053100"/>
            <a:ext cx="0" cy="103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p17"/>
          <p:cNvSpPr txBox="1"/>
          <p:nvPr>
            <p:ph type="title"/>
          </p:nvPr>
        </p:nvSpPr>
        <p:spPr>
          <a:xfrm>
            <a:off x="6504637" y="1929945"/>
            <a:ext cx="18141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Step 3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94" name="Google Shape;194;p17"/>
          <p:cNvSpPr txBox="1"/>
          <p:nvPr>
            <p:ph idx="1" type="body"/>
          </p:nvPr>
        </p:nvSpPr>
        <p:spPr>
          <a:xfrm>
            <a:off x="6504625" y="2053100"/>
            <a:ext cx="18141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Users maintain control over what data is accessed and can revoke the permissions anytime</a:t>
            </a:r>
            <a:endParaRPr sz="1200">
              <a:solidFill>
                <a:schemeClr val="dk2"/>
              </a:solidFill>
            </a:endParaRPr>
          </a:p>
        </p:txBody>
      </p:sp>
      <p:grpSp>
        <p:nvGrpSpPr>
          <p:cNvPr id="195" name="Google Shape;195;p17"/>
          <p:cNvGrpSpPr/>
          <p:nvPr/>
        </p:nvGrpSpPr>
        <p:grpSpPr>
          <a:xfrm>
            <a:off x="929030" y="3219673"/>
            <a:ext cx="6993309" cy="1520400"/>
            <a:chOff x="929030" y="3219673"/>
            <a:chExt cx="6993309" cy="1520400"/>
          </a:xfrm>
        </p:grpSpPr>
        <p:cxnSp>
          <p:nvCxnSpPr>
            <p:cNvPr id="196" name="Google Shape;196;p17"/>
            <p:cNvCxnSpPr>
              <a:stCxn id="197" idx="6"/>
              <a:endCxn id="198" idx="2"/>
            </p:cNvCxnSpPr>
            <p:nvPr/>
          </p:nvCxnSpPr>
          <p:spPr>
            <a:xfrm>
              <a:off x="1537730" y="3979907"/>
              <a:ext cx="4864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197" name="Google Shape;197;p17"/>
            <p:cNvSpPr/>
            <p:nvPr/>
          </p:nvSpPr>
          <p:spPr>
            <a:xfrm>
              <a:off x="929030" y="3675557"/>
              <a:ext cx="608700" cy="608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3421283" y="3431305"/>
              <a:ext cx="1097100" cy="1097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6401939" y="3219673"/>
              <a:ext cx="1520400" cy="1520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"/>
          <p:cNvSpPr/>
          <p:nvPr/>
        </p:nvSpPr>
        <p:spPr>
          <a:xfrm>
            <a:off x="0" y="0"/>
            <a:ext cx="9144000" cy="248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 txBox="1"/>
          <p:nvPr>
            <p:ph idx="4294967295" type="title"/>
          </p:nvPr>
        </p:nvSpPr>
        <p:spPr>
          <a:xfrm>
            <a:off x="311700" y="220100"/>
            <a:ext cx="8520600" cy="10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OAuth 2.0 API Authorization</a:t>
            </a:r>
            <a:endParaRPr/>
          </a:p>
          <a:p>
            <a:pPr indent="0" lvl="0" marL="0" rtl="0" algn="ctr">
              <a:spcBef>
                <a:spcPts val="400"/>
              </a:spcBef>
              <a:spcAft>
                <a:spcPts val="400"/>
              </a:spcAft>
              <a:buNone/>
            </a:pPr>
            <a:r>
              <a:rPr i="1" lang="en" sz="1600"/>
              <a:t>Understanding the implementation process</a:t>
            </a:r>
            <a:endParaRPr i="1" sz="1600"/>
          </a:p>
        </p:txBody>
      </p:sp>
      <p:pic>
        <p:nvPicPr>
          <p:cNvPr descr="Data security blue icon, server protection (Provided by Getty Images)" id="206" name="Google Shape;20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725" y="1363020"/>
            <a:ext cx="1644300" cy="16443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protest related board with yes and no tick mark vector in flat style, (Provided by Getty Images)" id="207" name="Google Shape;207;p18"/>
          <p:cNvPicPr preferRelativeResize="0"/>
          <p:nvPr/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2638668" y="1363170"/>
            <a:ext cx="1644300" cy="16440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key (Provided by Getty Images)" id="208" name="Google Shape;20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6629" y="1363008"/>
            <a:ext cx="1644300" cy="1644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09" name="Google Shape;209;p18"/>
          <p:cNvSpPr txBox="1"/>
          <p:nvPr>
            <p:ph idx="4294967295" type="title"/>
          </p:nvPr>
        </p:nvSpPr>
        <p:spPr>
          <a:xfrm>
            <a:off x="231725" y="3047794"/>
            <a:ext cx="20223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User Access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10" name="Google Shape;210;p18"/>
          <p:cNvSpPr txBox="1"/>
          <p:nvPr>
            <p:ph idx="4294967295" type="body"/>
          </p:nvPr>
        </p:nvSpPr>
        <p:spPr>
          <a:xfrm>
            <a:off x="231725" y="3572413"/>
            <a:ext cx="2022300" cy="1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A 3rd party application requests access to the users resources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11" name="Google Shape;211;p18"/>
          <p:cNvSpPr txBox="1"/>
          <p:nvPr>
            <p:ph idx="4294967295" type="title"/>
          </p:nvPr>
        </p:nvSpPr>
        <p:spPr>
          <a:xfrm>
            <a:off x="2449668" y="3047794"/>
            <a:ext cx="20223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IdP Redirect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12" name="Google Shape;212;p18"/>
          <p:cNvSpPr txBox="1"/>
          <p:nvPr>
            <p:ph idx="4294967295" type="title"/>
          </p:nvPr>
        </p:nvSpPr>
        <p:spPr>
          <a:xfrm>
            <a:off x="4667629" y="3047794"/>
            <a:ext cx="20223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Token Generation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13" name="Google Shape;213;p18"/>
          <p:cNvSpPr txBox="1"/>
          <p:nvPr>
            <p:ph idx="4294967295" type="body"/>
          </p:nvPr>
        </p:nvSpPr>
        <p:spPr>
          <a:xfrm>
            <a:off x="2449668" y="3572413"/>
            <a:ext cx="2022300" cy="1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The application redirects </a:t>
            </a:r>
            <a:r>
              <a:rPr lang="en" sz="1200"/>
              <a:t>the user to the Service Provider and prompts the user to Allow or Deny access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14" name="Google Shape;214;p18"/>
          <p:cNvSpPr txBox="1"/>
          <p:nvPr>
            <p:ph idx="4294967295" type="body"/>
          </p:nvPr>
        </p:nvSpPr>
        <p:spPr>
          <a:xfrm>
            <a:off x="4667629" y="3572413"/>
            <a:ext cx="2022300" cy="1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Once the user approves the request, the Service Provider issues the Token (JSON/REST) to the 3rd party application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15" name="Google Shape;215;p18"/>
          <p:cNvSpPr txBox="1"/>
          <p:nvPr>
            <p:ph idx="4294967295" type="title"/>
          </p:nvPr>
        </p:nvSpPr>
        <p:spPr>
          <a:xfrm>
            <a:off x="6885590" y="3047794"/>
            <a:ext cx="20223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Access Granted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16" name="Google Shape;216;p18"/>
          <p:cNvSpPr txBox="1"/>
          <p:nvPr>
            <p:ph idx="4294967295" type="body"/>
          </p:nvPr>
        </p:nvSpPr>
        <p:spPr>
          <a:xfrm>
            <a:off x="6885590" y="3572413"/>
            <a:ext cx="2022300" cy="1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The 3rd party application uses the Token to access the requested user data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descr="Document/File Transfer Icon (Provided by Getty Images)" id="217" name="Google Shape;21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74579" y="1363033"/>
            <a:ext cx="1644300" cy="16443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Description: OpenID Connect (OIDC)</a:t>
            </a:r>
            <a:endParaRPr/>
          </a:p>
        </p:txBody>
      </p:sp>
      <p:cxnSp>
        <p:nvCxnSpPr>
          <p:cNvPr id="223" name="Google Shape;223;p19"/>
          <p:cNvCxnSpPr/>
          <p:nvPr/>
        </p:nvCxnSpPr>
        <p:spPr>
          <a:xfrm>
            <a:off x="929038" y="2507950"/>
            <a:ext cx="0" cy="103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19"/>
          <p:cNvSpPr txBox="1"/>
          <p:nvPr>
            <p:ph type="title"/>
          </p:nvPr>
        </p:nvSpPr>
        <p:spPr>
          <a:xfrm>
            <a:off x="976112" y="2384687"/>
            <a:ext cx="18141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Step 1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25" name="Google Shape;225;p19"/>
          <p:cNvSpPr txBox="1"/>
          <p:nvPr>
            <p:ph idx="1" type="body"/>
          </p:nvPr>
        </p:nvSpPr>
        <p:spPr>
          <a:xfrm>
            <a:off x="976100" y="2507948"/>
            <a:ext cx="18141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Authentication &amp; Authorization</a:t>
            </a:r>
            <a:endParaRPr sz="1200"/>
          </a:p>
        </p:txBody>
      </p:sp>
      <p:cxnSp>
        <p:nvCxnSpPr>
          <p:cNvPr id="226" name="Google Shape;226;p19"/>
          <p:cNvCxnSpPr/>
          <p:nvPr/>
        </p:nvCxnSpPr>
        <p:spPr>
          <a:xfrm>
            <a:off x="3395738" y="2355550"/>
            <a:ext cx="0" cy="103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p19"/>
          <p:cNvSpPr txBox="1"/>
          <p:nvPr>
            <p:ph type="title"/>
          </p:nvPr>
        </p:nvSpPr>
        <p:spPr>
          <a:xfrm>
            <a:off x="3442812" y="2241076"/>
            <a:ext cx="18141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Step 2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28" name="Google Shape;228;p19"/>
          <p:cNvSpPr txBox="1"/>
          <p:nvPr>
            <p:ph idx="1" type="body"/>
          </p:nvPr>
        </p:nvSpPr>
        <p:spPr>
          <a:xfrm>
            <a:off x="3442800" y="2355550"/>
            <a:ext cx="18141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OIDC is an authentication layer built on top of OAuth 2.0’s framework</a:t>
            </a:r>
            <a:endParaRPr sz="1200"/>
          </a:p>
        </p:txBody>
      </p:sp>
      <p:cxnSp>
        <p:nvCxnSpPr>
          <p:cNvPr id="229" name="Google Shape;229;p19"/>
          <p:cNvCxnSpPr/>
          <p:nvPr/>
        </p:nvCxnSpPr>
        <p:spPr>
          <a:xfrm>
            <a:off x="6457563" y="2053100"/>
            <a:ext cx="0" cy="103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" name="Google Shape;230;p19"/>
          <p:cNvSpPr txBox="1"/>
          <p:nvPr>
            <p:ph type="title"/>
          </p:nvPr>
        </p:nvSpPr>
        <p:spPr>
          <a:xfrm>
            <a:off x="6504637" y="1929945"/>
            <a:ext cx="18141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Step 3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31" name="Google Shape;231;p19"/>
          <p:cNvSpPr txBox="1"/>
          <p:nvPr>
            <p:ph idx="1" type="body"/>
          </p:nvPr>
        </p:nvSpPr>
        <p:spPr>
          <a:xfrm>
            <a:off x="6504625" y="2053175"/>
            <a:ext cx="18141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Provides Identity Verification capabilities of SSO &amp; uses JSON/REST architecture of OAuth 2.0</a:t>
            </a:r>
            <a:endParaRPr sz="1200">
              <a:solidFill>
                <a:schemeClr val="dk2"/>
              </a:solidFill>
            </a:endParaRPr>
          </a:p>
        </p:txBody>
      </p:sp>
      <p:grpSp>
        <p:nvGrpSpPr>
          <p:cNvPr id="232" name="Google Shape;232;p19"/>
          <p:cNvGrpSpPr/>
          <p:nvPr/>
        </p:nvGrpSpPr>
        <p:grpSpPr>
          <a:xfrm>
            <a:off x="929030" y="3219673"/>
            <a:ext cx="6993309" cy="1520400"/>
            <a:chOff x="929030" y="3219673"/>
            <a:chExt cx="6993309" cy="1520400"/>
          </a:xfrm>
        </p:grpSpPr>
        <p:cxnSp>
          <p:nvCxnSpPr>
            <p:cNvPr id="233" name="Google Shape;233;p19"/>
            <p:cNvCxnSpPr>
              <a:stCxn id="234" idx="6"/>
              <a:endCxn id="235" idx="2"/>
            </p:cNvCxnSpPr>
            <p:nvPr/>
          </p:nvCxnSpPr>
          <p:spPr>
            <a:xfrm>
              <a:off x="1537730" y="3979907"/>
              <a:ext cx="4864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234" name="Google Shape;234;p19"/>
            <p:cNvSpPr/>
            <p:nvPr/>
          </p:nvSpPr>
          <p:spPr>
            <a:xfrm>
              <a:off x="929030" y="3675557"/>
              <a:ext cx="608700" cy="608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9"/>
            <p:cNvSpPr/>
            <p:nvPr/>
          </p:nvSpPr>
          <p:spPr>
            <a:xfrm>
              <a:off x="3421283" y="3431305"/>
              <a:ext cx="1097100" cy="1097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9"/>
            <p:cNvSpPr/>
            <p:nvPr/>
          </p:nvSpPr>
          <p:spPr>
            <a:xfrm>
              <a:off x="6401939" y="3219673"/>
              <a:ext cx="1520400" cy="1520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"/>
          <p:cNvSpPr/>
          <p:nvPr/>
        </p:nvSpPr>
        <p:spPr>
          <a:xfrm>
            <a:off x="0" y="0"/>
            <a:ext cx="9144000" cy="248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"/>
          <p:cNvSpPr txBox="1"/>
          <p:nvPr>
            <p:ph idx="4294967295" type="title"/>
          </p:nvPr>
        </p:nvSpPr>
        <p:spPr>
          <a:xfrm>
            <a:off x="311700" y="220100"/>
            <a:ext cx="8520600" cy="10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OpenID (OIDC) Identity Verification</a:t>
            </a:r>
            <a:endParaRPr/>
          </a:p>
          <a:p>
            <a:pPr indent="0" lvl="0" marL="0" rtl="0" algn="ctr">
              <a:spcBef>
                <a:spcPts val="400"/>
              </a:spcBef>
              <a:spcAft>
                <a:spcPts val="400"/>
              </a:spcAft>
              <a:buNone/>
            </a:pPr>
            <a:r>
              <a:rPr i="1" lang="en" sz="1600"/>
              <a:t>Understanding the implementation process</a:t>
            </a:r>
            <a:endParaRPr i="1" sz="1600"/>
          </a:p>
        </p:txBody>
      </p:sp>
      <p:pic>
        <p:nvPicPr>
          <p:cNvPr descr="log in password blue icon, sign in info (Provided by Getty Images)" id="243" name="Google Shape;2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725" y="1363020"/>
            <a:ext cx="1644300" cy="16443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User authentication-authorization concept icon. Software development kit idea thin line illustration. Data encryption. Privacy protection. Application management. Vector isolated outline drawing (Provided by Getty Images)" id="244" name="Google Shape;244;p20"/>
          <p:cNvPicPr preferRelativeResize="0"/>
          <p:nvPr/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2638668" y="1363170"/>
            <a:ext cx="1644300" cy="16440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Army token icon vector. Isolated contour symbol illustration (Provided by Getty Images)" id="245" name="Google Shape;24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6629" y="1363008"/>
            <a:ext cx="1644300" cy="1644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6" name="Google Shape;246;p20"/>
          <p:cNvSpPr txBox="1"/>
          <p:nvPr>
            <p:ph idx="4294967295" type="title"/>
          </p:nvPr>
        </p:nvSpPr>
        <p:spPr>
          <a:xfrm>
            <a:off x="231725" y="3047794"/>
            <a:ext cx="20223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User Access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7" name="Google Shape;247;p20"/>
          <p:cNvSpPr txBox="1"/>
          <p:nvPr>
            <p:ph idx="4294967295" type="body"/>
          </p:nvPr>
        </p:nvSpPr>
        <p:spPr>
          <a:xfrm>
            <a:off x="231725" y="3572413"/>
            <a:ext cx="2022300" cy="1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An application redirects a user to the Identity Provider (IdP)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48" name="Google Shape;248;p20"/>
          <p:cNvSpPr txBox="1"/>
          <p:nvPr>
            <p:ph idx="4294967295" type="title"/>
          </p:nvPr>
        </p:nvSpPr>
        <p:spPr>
          <a:xfrm>
            <a:off x="2449668" y="3047794"/>
            <a:ext cx="20223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IdP Redirect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9" name="Google Shape;249;p20"/>
          <p:cNvSpPr txBox="1"/>
          <p:nvPr>
            <p:ph idx="4294967295" type="title"/>
          </p:nvPr>
        </p:nvSpPr>
        <p:spPr>
          <a:xfrm>
            <a:off x="4667629" y="3047794"/>
            <a:ext cx="20223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Token Generation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50" name="Google Shape;250;p20"/>
          <p:cNvSpPr txBox="1"/>
          <p:nvPr>
            <p:ph idx="4294967295" type="body"/>
          </p:nvPr>
        </p:nvSpPr>
        <p:spPr>
          <a:xfrm>
            <a:off x="2449668" y="3572413"/>
            <a:ext cx="2022300" cy="1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The user then authenticates with the IdP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1" name="Google Shape;251;p20"/>
          <p:cNvSpPr txBox="1"/>
          <p:nvPr>
            <p:ph idx="4294967295" type="body"/>
          </p:nvPr>
        </p:nvSpPr>
        <p:spPr>
          <a:xfrm>
            <a:off x="4667629" y="3572413"/>
            <a:ext cx="2022300" cy="1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Dual Tokens are issued via (JSON/REST) to provide an ID Token of who the user is and an Access Token for what the user can do or has access to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2" name="Google Shape;252;p20"/>
          <p:cNvSpPr txBox="1"/>
          <p:nvPr>
            <p:ph idx="4294967295" type="title"/>
          </p:nvPr>
        </p:nvSpPr>
        <p:spPr>
          <a:xfrm>
            <a:off x="6885590" y="3047794"/>
            <a:ext cx="20223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Access Granted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53" name="Google Shape;253;p20"/>
          <p:cNvSpPr txBox="1"/>
          <p:nvPr>
            <p:ph idx="4294967295" type="body"/>
          </p:nvPr>
        </p:nvSpPr>
        <p:spPr>
          <a:xfrm>
            <a:off x="6885590" y="3572413"/>
            <a:ext cx="2022300" cy="1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The application can log a user in from the ID Token providing the users password as well as access the API resources requests with the Access Token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descr="Browser, web page icon / blue graphics (Provided by Getty Images)" id="254" name="Google Shape;25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74579" y="1363033"/>
            <a:ext cx="1644300" cy="16443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thics And Values Free Stock Photo - Public Domain Pictures" id="259" name="Google Shape;259;p21"/>
          <p:cNvPicPr preferRelativeResize="0"/>
          <p:nvPr/>
        </p:nvPicPr>
        <p:blipFill rotWithShape="1">
          <a:blip r:embed="rId3">
            <a:alphaModFix/>
          </a:blip>
          <a:srcRect b="0" l="20187" r="15706" t="11387"/>
          <a:stretch/>
        </p:blipFill>
        <p:spPr>
          <a:xfrm>
            <a:off x="0" y="0"/>
            <a:ext cx="2422325" cy="2265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0" name="Google Shape;260;p21"/>
          <p:cNvGrpSpPr/>
          <p:nvPr/>
        </p:nvGrpSpPr>
        <p:grpSpPr>
          <a:xfrm>
            <a:off x="2359422" y="1586013"/>
            <a:ext cx="2177805" cy="3297354"/>
            <a:chOff x="1118224" y="223955"/>
            <a:chExt cx="2090826" cy="4136170"/>
          </a:xfrm>
        </p:grpSpPr>
        <p:sp>
          <p:nvSpPr>
            <p:cNvPr id="261" name="Google Shape;261;p21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80050" lIns="80050" spcFirstLastPara="1" rIns="80050" wrap="square" tIns="80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5"/>
            </a:p>
          </p:txBody>
        </p:sp>
        <p:sp>
          <p:nvSpPr>
            <p:cNvPr id="262" name="Google Shape;262;p21"/>
            <p:cNvSpPr/>
            <p:nvPr/>
          </p:nvSpPr>
          <p:spPr>
            <a:xfrm>
              <a:off x="1118224" y="341749"/>
              <a:ext cx="2048100" cy="2490600"/>
            </a:xfrm>
            <a:prstGeom prst="rect">
              <a:avLst/>
            </a:prstGeom>
            <a:solidFill>
              <a:srgbClr val="FFFFFF"/>
            </a:solidFill>
            <a:ln cap="flat" cmpd="sng" w="166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0050" lIns="80050" spcFirstLastPara="1" rIns="80050" wrap="square" tIns="80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5"/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1233914" y="1175763"/>
              <a:ext cx="1815000" cy="15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50" lIns="80050" spcFirstLastPara="1" rIns="80050" wrap="square" tIns="80050">
              <a:noAutofit/>
            </a:bodyPr>
            <a:lstStyle/>
            <a:p>
              <a:pPr indent="-244667" lvl="0" marL="400363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701"/>
                <a:buFont typeface="Roboto"/>
                <a:buChar char="●"/>
              </a:pPr>
              <a:r>
                <a:rPr b="1" lang="en" sz="7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Enterprise Standard</a:t>
              </a:r>
              <a:r>
                <a:rPr lang="en" sz="7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 for B2B clients</a:t>
              </a:r>
              <a:endParaRPr sz="7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44667" lvl="0" marL="400363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701"/>
                <a:buFont typeface="Roboto"/>
                <a:buChar char="●"/>
              </a:pPr>
              <a:r>
                <a:rPr b="1" lang="en" sz="7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Centralized Control </a:t>
              </a:r>
              <a:r>
                <a:rPr lang="en" sz="7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for IT Teams activate/deactivate users from a single point</a:t>
              </a:r>
              <a:r>
                <a:rPr lang="en" sz="7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sz="7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4" name="Google Shape;264;p21"/>
            <p:cNvSpPr/>
            <p:nvPr/>
          </p:nvSpPr>
          <p:spPr>
            <a:xfrm>
              <a:off x="1226014" y="223955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50" lIns="80050" spcFirstLastPara="1" rIns="80050" wrap="square" tIns="80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2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SSO (SAML)</a:t>
              </a:r>
              <a:endParaRPr sz="2202">
                <a:solidFill>
                  <a:schemeClr val="accent3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65" name="Google Shape;265;p21"/>
            <p:cNvSpPr/>
            <p:nvPr/>
          </p:nvSpPr>
          <p:spPr>
            <a:xfrm rot="5400000">
              <a:off x="1938871" y="2785391"/>
              <a:ext cx="389100" cy="278100"/>
            </a:xfrm>
            <a:prstGeom prst="rightArrow">
              <a:avLst>
                <a:gd fmla="val 34239" name="adj1"/>
                <a:gd fmla="val 5703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80050" lIns="80050" spcFirstLastPara="1" rIns="80050" wrap="square" tIns="80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1"/>
            <p:cNvSpPr/>
            <p:nvPr/>
          </p:nvSpPr>
          <p:spPr>
            <a:xfrm>
              <a:off x="1118308" y="3172455"/>
              <a:ext cx="2030400" cy="10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50" lIns="80050" spcFirstLastPara="1" rIns="80050" wrap="square" tIns="80050">
              <a:noAutofit/>
            </a:bodyPr>
            <a:lstStyle/>
            <a:p>
              <a:pPr indent="-244667" lvl="0" marL="400363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1"/>
                <a:buFont typeface="Roboto"/>
                <a:buChar char="●"/>
              </a:pPr>
              <a:r>
                <a:rPr b="1" lang="en" sz="7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Heavy Implementation </a:t>
              </a:r>
              <a:r>
                <a:rPr lang="en" sz="7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due to XML complications</a:t>
              </a:r>
              <a:endParaRPr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44667" lvl="0" marL="400363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1"/>
                <a:buFont typeface="Roboto"/>
                <a:buChar char="●"/>
              </a:pPr>
              <a:r>
                <a:rPr b="1" lang="en" sz="7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Vulnerabilities </a:t>
              </a:r>
              <a:r>
                <a:rPr lang="en" sz="7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from Misconfigurations in SAML can expose XML attacks</a:t>
              </a:r>
              <a:endParaRPr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44667" lvl="0" marL="400363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1"/>
                <a:buFont typeface="Roboto"/>
                <a:buChar char="●"/>
              </a:pPr>
              <a:r>
                <a:rPr b="1" lang="en" sz="7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Single Point of Failure</a:t>
              </a:r>
              <a:r>
                <a:rPr lang="en" sz="7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if the IdP goes down all apps become inaccessible</a:t>
              </a:r>
              <a:endParaRPr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7" name="Google Shape;267;p21"/>
          <p:cNvGrpSpPr/>
          <p:nvPr/>
        </p:nvGrpSpPr>
        <p:grpSpPr>
          <a:xfrm>
            <a:off x="4591732" y="1578156"/>
            <a:ext cx="2177805" cy="3305211"/>
            <a:chOff x="1118224" y="214100"/>
            <a:chExt cx="2090826" cy="4146025"/>
          </a:xfrm>
        </p:grpSpPr>
        <p:sp>
          <p:nvSpPr>
            <p:cNvPr id="268" name="Google Shape;268;p21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80050" lIns="80050" spcFirstLastPara="1" rIns="80050" wrap="square" tIns="80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1"/>
            <p:cNvSpPr/>
            <p:nvPr/>
          </p:nvSpPr>
          <p:spPr>
            <a:xfrm>
              <a:off x="1118224" y="341749"/>
              <a:ext cx="2048100" cy="2490600"/>
            </a:xfrm>
            <a:prstGeom prst="rect">
              <a:avLst/>
            </a:prstGeom>
            <a:solidFill>
              <a:srgbClr val="FFFFFF"/>
            </a:solidFill>
            <a:ln cap="flat" cmpd="sng" w="166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0050" lIns="80050" spcFirstLastPara="1" rIns="80050" wrap="square" tIns="80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1218831" y="1175763"/>
              <a:ext cx="1815000" cy="15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50" lIns="80050" spcFirstLastPara="1" rIns="80050" wrap="square" tIns="80050">
              <a:noAutofit/>
            </a:bodyPr>
            <a:lstStyle/>
            <a:p>
              <a:pPr indent="-244667" lvl="0" marL="400363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701"/>
                <a:buFont typeface="Roboto"/>
                <a:buChar char="●"/>
              </a:pPr>
              <a:r>
                <a:rPr b="1" lang="en" sz="7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Permissions</a:t>
              </a:r>
              <a:r>
                <a:rPr lang="en" sz="7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 at a granular level to limit access strictly to only the applications a user needs access</a:t>
              </a:r>
              <a:endParaRPr sz="7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44667" lvl="0" marL="400363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701"/>
                <a:buFont typeface="Roboto"/>
                <a:buChar char="●"/>
              </a:pPr>
              <a:r>
                <a:rPr b="1" lang="en" sz="7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Cross-Platform </a:t>
              </a:r>
              <a:r>
                <a:rPr lang="en" sz="7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authorization seamlessly across mobile, desktop &amp; web applications</a:t>
              </a:r>
              <a:endParaRPr sz="7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44667" lvl="0" marL="400363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701"/>
                <a:buFont typeface="Roboto"/>
                <a:buChar char="●"/>
              </a:pPr>
              <a:r>
                <a:rPr b="1" lang="en" sz="7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Development</a:t>
              </a:r>
              <a:r>
                <a:rPr lang="en" sz="7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 using JSON/REST is easier than SAML for most developers</a:t>
              </a:r>
              <a:endParaRPr sz="7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1" name="Google Shape;271;p21"/>
            <p:cNvSpPr/>
            <p:nvPr/>
          </p:nvSpPr>
          <p:spPr>
            <a:xfrm>
              <a:off x="1233850" y="214100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50" lIns="80050" spcFirstLastPara="1" rIns="80050" wrap="square" tIns="80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2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OAuth 2.0</a:t>
              </a:r>
              <a:endParaRPr sz="2202">
                <a:solidFill>
                  <a:schemeClr val="accent3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72" name="Google Shape;272;p21"/>
            <p:cNvSpPr/>
            <p:nvPr/>
          </p:nvSpPr>
          <p:spPr>
            <a:xfrm rot="5400000">
              <a:off x="1938871" y="2785391"/>
              <a:ext cx="389100" cy="278100"/>
            </a:xfrm>
            <a:prstGeom prst="rightArrow">
              <a:avLst>
                <a:gd fmla="val 34239" name="adj1"/>
                <a:gd fmla="val 5703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80050" lIns="80050" spcFirstLastPara="1" rIns="80050" wrap="square" tIns="80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1"/>
            <p:cNvSpPr/>
            <p:nvPr/>
          </p:nvSpPr>
          <p:spPr>
            <a:xfrm>
              <a:off x="1118308" y="3172455"/>
              <a:ext cx="2030400" cy="10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50" lIns="80050" spcFirstLastPara="1" rIns="80050" wrap="square" tIns="80050">
              <a:noAutofit/>
            </a:bodyPr>
            <a:lstStyle/>
            <a:p>
              <a:pPr indent="-244667" lvl="0" marL="400363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1"/>
                <a:buFont typeface="Roboto"/>
                <a:buChar char="●"/>
              </a:pPr>
              <a:r>
                <a:rPr b="1" lang="en" sz="7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Vulnerabilities </a:t>
              </a:r>
              <a:r>
                <a:rPr lang="en" sz="7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due to misconfigurations with tokens or connections can lead to data breaches</a:t>
              </a:r>
              <a:endParaRPr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44667" lvl="0" marL="400363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1"/>
                <a:buFont typeface="Roboto"/>
                <a:buChar char="●"/>
              </a:pPr>
              <a:r>
                <a:rPr b="1" lang="en" sz="7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No Verification </a:t>
              </a:r>
              <a:r>
                <a:rPr lang="en" sz="7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or authentication about the user is provided. Not used for logins just communications with APIs</a:t>
              </a:r>
              <a:endParaRPr sz="61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4" name="Google Shape;274;p21"/>
          <p:cNvGrpSpPr/>
          <p:nvPr/>
        </p:nvGrpSpPr>
        <p:grpSpPr>
          <a:xfrm>
            <a:off x="6824043" y="1586025"/>
            <a:ext cx="2177805" cy="3297342"/>
            <a:chOff x="1118224" y="223970"/>
            <a:chExt cx="2090826" cy="4136155"/>
          </a:xfrm>
        </p:grpSpPr>
        <p:sp>
          <p:nvSpPr>
            <p:cNvPr id="275" name="Google Shape;275;p21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80050" lIns="80050" spcFirstLastPara="1" rIns="80050" wrap="square" tIns="80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1"/>
            <p:cNvSpPr/>
            <p:nvPr/>
          </p:nvSpPr>
          <p:spPr>
            <a:xfrm>
              <a:off x="1118224" y="341749"/>
              <a:ext cx="2048100" cy="2490600"/>
            </a:xfrm>
            <a:prstGeom prst="rect">
              <a:avLst/>
            </a:prstGeom>
            <a:solidFill>
              <a:srgbClr val="FFFFFF"/>
            </a:solidFill>
            <a:ln cap="flat" cmpd="sng" w="166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0050" lIns="80050" spcFirstLastPara="1" rIns="80050" wrap="square" tIns="80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1"/>
            <p:cNvSpPr/>
            <p:nvPr/>
          </p:nvSpPr>
          <p:spPr>
            <a:xfrm>
              <a:off x="1226381" y="1175763"/>
              <a:ext cx="1815000" cy="15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50" lIns="80050" spcFirstLastPara="1" rIns="80050" wrap="square" tIns="80050">
              <a:noAutofit/>
            </a:bodyPr>
            <a:lstStyle/>
            <a:p>
              <a:pPr indent="-244667" lvl="0" marL="400363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701"/>
                <a:buFont typeface="Roboto"/>
                <a:buChar char="●"/>
              </a:pPr>
              <a:r>
                <a:rPr b="1" lang="en" sz="7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Security</a:t>
              </a:r>
              <a:r>
                <a:rPr lang="en" sz="7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 is simple with JSON/REST tokens which reduces injection vulnerabilities</a:t>
              </a:r>
              <a:endParaRPr sz="7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44667" lvl="0" marL="400363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701"/>
                <a:buFont typeface="Roboto"/>
                <a:buChar char="●"/>
              </a:pPr>
              <a:r>
                <a:rPr b="1" lang="en" sz="7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Compatibility </a:t>
              </a:r>
              <a:r>
                <a:rPr lang="en" sz="7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across most enterprise IdPs and considered the standard for logins</a:t>
              </a:r>
              <a:endParaRPr sz="7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44667" lvl="0" marL="400363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701"/>
                <a:buFont typeface="Roboto"/>
                <a:buChar char="●"/>
              </a:pPr>
              <a:r>
                <a:rPr b="1" lang="en" sz="7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Unified Stack </a:t>
              </a:r>
              <a:r>
                <a:rPr lang="en" sz="7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since developers can use the same framework for both OpenID and OAuth</a:t>
              </a:r>
              <a:endParaRPr sz="7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8" name="Google Shape;278;p21"/>
            <p:cNvSpPr/>
            <p:nvPr/>
          </p:nvSpPr>
          <p:spPr>
            <a:xfrm>
              <a:off x="1178642" y="223970"/>
              <a:ext cx="19878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50" lIns="80050" spcFirstLastPara="1" rIns="80050" wrap="square" tIns="80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2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OpenID (OIDC)</a:t>
              </a:r>
              <a:endParaRPr sz="2202">
                <a:solidFill>
                  <a:schemeClr val="accent3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79" name="Google Shape;279;p21"/>
            <p:cNvSpPr/>
            <p:nvPr/>
          </p:nvSpPr>
          <p:spPr>
            <a:xfrm rot="5400000">
              <a:off x="1938871" y="2785391"/>
              <a:ext cx="389100" cy="278100"/>
            </a:xfrm>
            <a:prstGeom prst="rightArrow">
              <a:avLst>
                <a:gd fmla="val 34239" name="adj1"/>
                <a:gd fmla="val 5703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80050" lIns="80050" spcFirstLastPara="1" rIns="80050" wrap="square" tIns="80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1"/>
            <p:cNvSpPr/>
            <p:nvPr/>
          </p:nvSpPr>
          <p:spPr>
            <a:xfrm>
              <a:off x="1118308" y="3172455"/>
              <a:ext cx="2030400" cy="10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50" lIns="80050" spcFirstLastPara="1" rIns="80050" wrap="square" tIns="80050">
              <a:noAutofit/>
            </a:bodyPr>
            <a:lstStyle/>
            <a:p>
              <a:pPr indent="-244667" lvl="0" marL="400363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1"/>
                <a:buFont typeface="Roboto"/>
                <a:buChar char="●"/>
              </a:pPr>
              <a:r>
                <a:rPr b="1" lang="en" sz="7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Constraints</a:t>
              </a:r>
              <a:r>
                <a:rPr lang="en" sz="7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for legacy enterprise customers using SAML</a:t>
              </a:r>
              <a:endParaRPr sz="61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81" name="Google Shape;281;p21"/>
          <p:cNvSpPr/>
          <p:nvPr/>
        </p:nvSpPr>
        <p:spPr>
          <a:xfrm>
            <a:off x="2359400" y="197700"/>
            <a:ext cx="66423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50" lIns="80050" spcFirstLastPara="1" rIns="80050" wrap="square" tIns="80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50">
                <a:solidFill>
                  <a:schemeClr val="accent3"/>
                </a:solidFill>
                <a:latin typeface="Roboto Medium"/>
                <a:ea typeface="Roboto Medium"/>
                <a:cs typeface="Roboto Medium"/>
                <a:sym typeface="Roboto Medium"/>
              </a:rPr>
              <a:t>Advantages/Disadvantages</a:t>
            </a:r>
            <a:endParaRPr sz="3050">
              <a:solidFill>
                <a:schemeClr val="accent3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50">
                <a:solidFill>
                  <a:schemeClr val="accent3"/>
                </a:solidFill>
                <a:latin typeface="Roboto Medium"/>
                <a:ea typeface="Roboto Medium"/>
                <a:cs typeface="Roboto Medium"/>
                <a:sym typeface="Roboto Medium"/>
              </a:rPr>
              <a:t>(Decision Time)</a:t>
            </a:r>
            <a:endParaRPr sz="2550">
              <a:solidFill>
                <a:schemeClr val="accent3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2359400" y="2015325"/>
            <a:ext cx="21552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50" lIns="80050" spcFirstLastPara="1" rIns="80050" wrap="square" tIns="800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Authentication (AuthN): XML</a:t>
            </a:r>
            <a:endParaRPr sz="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4591725" y="2015325"/>
            <a:ext cx="21552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50" lIns="80050" spcFirstLastPara="1" rIns="80050" wrap="square" tIns="800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Authentication (AuthZ): JSON/REST</a:t>
            </a:r>
            <a:endParaRPr sz="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6823775" y="2015325"/>
            <a:ext cx="21777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50" lIns="80050" spcFirstLastPara="1" rIns="80050" wrap="square" tIns="800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Authentication (AuthZ): JSON Web Tokens</a:t>
            </a:r>
            <a:endParaRPr sz="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lin ang="5400012" scaled="0"/>
        </a:gra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2"/>
          <p:cNvSpPr txBox="1"/>
          <p:nvPr/>
        </p:nvSpPr>
        <p:spPr>
          <a:xfrm>
            <a:off x="149425" y="975225"/>
            <a:ext cx="4852500" cy="38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References</a:t>
            </a:r>
            <a:endParaRPr b="1" sz="2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Descope. (2025, March 28). </a:t>
            </a:r>
            <a:r>
              <a:rPr i="1" lang="en" sz="1100">
                <a:solidFill>
                  <a:schemeClr val="lt1"/>
                </a:solidFill>
              </a:rPr>
              <a:t>SSO vs. OAuth: Understanding the differences.</a:t>
            </a:r>
            <a:br>
              <a:rPr i="1" lang="en" sz="1100"/>
            </a:br>
            <a:r>
              <a:rPr lang="en" sz="1100" u="sng">
                <a:solidFill>
                  <a:srgbClr val="00FF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https://www.descope.com/blog/post/sso-vs-oauth</a:t>
            </a:r>
            <a:endParaRPr sz="1100" u="sng">
              <a:solidFill>
                <a:srgbClr val="00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Okta. (2024, September 2). </a:t>
            </a:r>
            <a:r>
              <a:rPr i="1" lang="en" sz="1100">
                <a:solidFill>
                  <a:schemeClr val="lt1"/>
                </a:solidFill>
              </a:rPr>
              <a:t>What’s the difference between OAuth, OpenID Connect, and SAML?</a:t>
            </a:r>
            <a:br>
              <a:rPr i="1" lang="en" sz="1100"/>
            </a:br>
            <a:r>
              <a:rPr lang="en" sz="1100" u="sng">
                <a:solidFill>
                  <a:srgbClr val="00FF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https://www.okta.com/identity-101/whats-the-difference-between-oauth-openid-connect-and-saml/</a:t>
            </a:r>
            <a:endParaRPr sz="1100" u="sng">
              <a:solidFill>
                <a:srgbClr val="00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Puspasari, P. (2023). </a:t>
            </a:r>
            <a:r>
              <a:rPr i="1" lang="en" sz="1100">
                <a:solidFill>
                  <a:schemeClr val="lt1"/>
                </a:solidFill>
              </a:rPr>
              <a:t>OAuth 2.0 vs OpenID Connect vs SSO: Understanding the key differences.</a:t>
            </a:r>
            <a:r>
              <a:rPr lang="en" sz="1100">
                <a:solidFill>
                  <a:schemeClr val="lt1"/>
                </a:solidFill>
              </a:rPr>
              <a:t> </a:t>
            </a:r>
            <a:r>
              <a:rPr i="1" lang="en" sz="1100">
                <a:solidFill>
                  <a:schemeClr val="lt1"/>
                </a:solidFill>
              </a:rPr>
              <a:t>Medium.</a:t>
            </a:r>
            <a:br>
              <a:rPr i="1" lang="en" sz="1100"/>
            </a:br>
            <a:r>
              <a:rPr lang="en" sz="1100" u="sng">
                <a:solidFill>
                  <a:srgbClr val="00FFFF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https://medium.com/@puspas99/oauth-2-0-vs-openid-connect-vs-sso-understanding-the-key-differences-cd154da0041b</a:t>
            </a:r>
            <a:endParaRPr sz="1100" u="sng">
              <a:solidFill>
                <a:srgbClr val="00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WorkOS. (2024, June 18). </a:t>
            </a:r>
            <a:r>
              <a:rPr i="1" lang="en" sz="1100">
                <a:solidFill>
                  <a:schemeClr val="lt1"/>
                </a:solidFill>
              </a:rPr>
              <a:t>SSO vs OAuth: Key differences you must know.</a:t>
            </a:r>
            <a:br>
              <a:rPr i="1" lang="en" sz="1100"/>
            </a:br>
            <a:r>
              <a:rPr lang="en" sz="1100" u="sng">
                <a:solidFill>
                  <a:srgbClr val="00FFFF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https://workos.com/blog/sso-vs-oauth</a:t>
            </a:r>
            <a:endParaRPr sz="1100" u="sng">
              <a:solidFill>
                <a:srgbClr val="00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i="1" sz="16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Candidate search solid icon. Applicant forms stack and loupe glyph style pictogram on white background. Headhunting signs for mobile concept and web design. Vector graphics. (Provided by Getty Images)" id="290" name="Google Shape;290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64746" y="266050"/>
            <a:ext cx="3079224" cy="307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